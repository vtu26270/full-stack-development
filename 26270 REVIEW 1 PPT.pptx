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9" r:id="rId12"/>
    <p:sldId id="267" r:id="rId13"/>
    <p:sldId id="268" r:id="rId14"/>
    <p:sldId id="270" r:id="rId15"/>
    <p:sldId id="265" r:id="rId16"/>
  </p:sldIdLst>
  <p:sldSz cx="18288000" cy="10287000"/>
  <p:notesSz cx="6858000" cy="9144000"/>
  <p:embeddedFontLst>
    <p:embeddedFont>
      <p:font typeface="Arial Black" panose="020B0A04020102020204" pitchFamily="34" charset="0"/>
      <p:bold r:id="rId17"/>
    </p:embeddedFont>
    <p:embeddedFont>
      <p:font typeface="Bookman Old Style" panose="02050604050505020204" pitchFamily="18" charset="0"/>
      <p:regular r:id="rId18"/>
      <p:bold r:id="rId19"/>
      <p:italic r:id="rId20"/>
      <p:boldItalic r:id="rId21"/>
    </p:embeddedFont>
    <p:embeddedFont>
      <p:font typeface="Cambria" panose="02040503050406030204" pitchFamily="18" charset="0"/>
      <p:regular r:id="rId22"/>
      <p:bold r:id="rId23"/>
      <p:italic r:id="rId24"/>
      <p:boldItalic r:id="rId25"/>
    </p:embeddedFont>
    <p:embeddedFont>
      <p:font typeface="Gotham" panose="020B0604020202020204" charset="0"/>
      <p:regular r:id="rId26"/>
    </p:embeddedFont>
    <p:embeddedFont>
      <p:font typeface="Gotham Bold Italics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898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10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-9965724" y="-1383136"/>
            <a:ext cx="10994424" cy="10994424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1194AAA3-5CF4-E695-04C9-0894FFF6F1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443" y="196689"/>
            <a:ext cx="4752247" cy="1360611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B0EB85C-D9CE-08DC-1131-77C9DD1A002D}"/>
              </a:ext>
            </a:extLst>
          </p:cNvPr>
          <p:cNvSpPr txBox="1"/>
          <p:nvPr/>
        </p:nvSpPr>
        <p:spPr>
          <a:xfrm>
            <a:off x="1360002" y="1608482"/>
            <a:ext cx="159258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Vel Tech Rangarajan Dr. Sagunthala R&amp;D Institute of Science and Technology</a:t>
            </a:r>
          </a:p>
          <a:p>
            <a:pPr algn="ctr"/>
            <a:r>
              <a:rPr lang="en-US" sz="3600" b="1" dirty="0">
                <a:latin typeface="Cambria" panose="02040503050406030204" pitchFamily="18" charset="0"/>
                <a:ea typeface="Cambria" panose="02040503050406030204" pitchFamily="18" charset="0"/>
              </a:rPr>
              <a:t>School of Computing </a:t>
            </a:r>
          </a:p>
          <a:p>
            <a:pPr algn="ctr"/>
            <a:r>
              <a:rPr lang="en-US" sz="3200" b="1" dirty="0">
                <a:latin typeface="Cambria" panose="02040503050406030204" pitchFamily="18" charset="0"/>
                <a:ea typeface="Cambria" panose="02040503050406030204" pitchFamily="18" charset="0"/>
              </a:rPr>
              <a:t>Department of Computer Science and Engineering</a:t>
            </a:r>
            <a:endParaRPr lang="en-IN" sz="32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5785AF5-58C8-2624-E1FD-4723B0683DE6}"/>
              </a:ext>
            </a:extLst>
          </p:cNvPr>
          <p:cNvSpPr txBox="1"/>
          <p:nvPr/>
        </p:nvSpPr>
        <p:spPr>
          <a:xfrm>
            <a:off x="1692835" y="3272357"/>
            <a:ext cx="1526013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0033CC"/>
                </a:solidFill>
                <a:latin typeface="Bookman Old Style" panose="02050604050505020204" pitchFamily="18" charset="0"/>
              </a:rPr>
              <a:t>10211CS224 / FULL STACK APPLICATION DEVELOPMENT (JAVA)</a:t>
            </a:r>
            <a:endParaRPr lang="en-IN" sz="2800" b="1" dirty="0">
              <a:solidFill>
                <a:srgbClr val="0033CC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6C53BF-3850-6683-E07F-D595EC8B02B2}"/>
              </a:ext>
            </a:extLst>
          </p:cNvPr>
          <p:cNvSpPr txBox="1"/>
          <p:nvPr/>
        </p:nvSpPr>
        <p:spPr>
          <a:xfrm>
            <a:off x="3727757" y="3897940"/>
            <a:ext cx="111902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 REVIEW : MILESTONE PROJECT – 1</a:t>
            </a:r>
          </a:p>
          <a:p>
            <a:pPr algn="ctr"/>
            <a:endParaRPr lang="en-IN" sz="3600"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IN" sz="3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Date: 04-03-2026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FE0DA2-4723-7C13-5FD7-FC99B0394DDD}"/>
              </a:ext>
            </a:extLst>
          </p:cNvPr>
          <p:cNvSpPr txBox="1"/>
          <p:nvPr/>
        </p:nvSpPr>
        <p:spPr>
          <a:xfrm>
            <a:off x="1501640" y="6057900"/>
            <a:ext cx="157841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033CC"/>
                </a:solidFill>
                <a:latin typeface="Arial Black" panose="020B0A04020102020204" pitchFamily="34" charset="0"/>
              </a:rPr>
              <a:t>End-to-End Event Lifecycle &amp; Ticketing Platform</a:t>
            </a:r>
            <a:endParaRPr lang="en-IN" sz="3200" b="1" dirty="0">
              <a:solidFill>
                <a:srgbClr val="0033CC"/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8EEF4A-EB43-B7D9-87FC-7C7D752BCA78}"/>
              </a:ext>
            </a:extLst>
          </p:cNvPr>
          <p:cNvSpPr txBox="1"/>
          <p:nvPr/>
        </p:nvSpPr>
        <p:spPr>
          <a:xfrm>
            <a:off x="893870" y="7800539"/>
            <a:ext cx="9067800" cy="1391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mbria" panose="02040503050406030204" pitchFamily="18" charset="0"/>
                <a:ea typeface="Cambria" panose="02040503050406030204" pitchFamily="18" charset="0"/>
              </a:rPr>
              <a:t>Presented By:</a:t>
            </a:r>
          </a:p>
          <a:p>
            <a:pPr>
              <a:lnSpc>
                <a:spcPct val="150000"/>
              </a:lnSpc>
            </a:pPr>
            <a:r>
              <a:rPr lang="en-US" sz="3000" dirty="0" err="1">
                <a:latin typeface="Cambria" panose="02040503050406030204" pitchFamily="18" charset="0"/>
                <a:ea typeface="Cambria" panose="02040503050406030204" pitchFamily="18" charset="0"/>
              </a:rPr>
              <a:t>S.Swamy</a:t>
            </a: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3000" dirty="0" err="1">
                <a:latin typeface="Cambria" panose="02040503050406030204" pitchFamily="18" charset="0"/>
                <a:ea typeface="Cambria" panose="02040503050406030204" pitchFamily="18" charset="0"/>
              </a:rPr>
              <a:t>reddy</a:t>
            </a: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– VTU26270 – Reg.No.23UECS0500</a:t>
            </a:r>
            <a:endParaRPr lang="en-IN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F32D1A-2F9C-AC53-CCBD-ABF748DF236F}"/>
              </a:ext>
            </a:extLst>
          </p:cNvPr>
          <p:cNvSpPr txBox="1"/>
          <p:nvPr/>
        </p:nvSpPr>
        <p:spPr>
          <a:xfrm>
            <a:off x="10945035" y="7818586"/>
            <a:ext cx="6914603" cy="1391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000" b="1" dirty="0">
                <a:latin typeface="Cambria" panose="02040503050406030204" pitchFamily="18" charset="0"/>
                <a:ea typeface="Cambria" panose="02040503050406030204" pitchFamily="18" charset="0"/>
              </a:rPr>
              <a:t>Courses Handling Faculty:</a:t>
            </a:r>
          </a:p>
          <a:p>
            <a:pPr>
              <a:lnSpc>
                <a:spcPct val="150000"/>
              </a:lnSpc>
            </a:pP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Dr. </a:t>
            </a:r>
            <a:r>
              <a:rPr lang="en-US" sz="3000" dirty="0" err="1">
                <a:latin typeface="Cambria" panose="02040503050406030204" pitchFamily="18" charset="0"/>
                <a:ea typeface="Cambria" panose="02040503050406030204" pitchFamily="18" charset="0"/>
              </a:rPr>
              <a:t>M.Mageshwari</a:t>
            </a:r>
            <a:r>
              <a:rPr lang="en-US" sz="3000" dirty="0">
                <a:latin typeface="Cambria" panose="02040503050406030204" pitchFamily="18" charset="0"/>
                <a:ea typeface="Cambria" panose="02040503050406030204" pitchFamily="18" charset="0"/>
              </a:rPr>
              <a:t> - Designation</a:t>
            </a:r>
            <a:endParaRPr lang="en-IN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AA51DE-E8D7-A1B4-BC0D-B25C8A0C467A}"/>
              </a:ext>
            </a:extLst>
          </p:cNvPr>
          <p:cNvSpPr txBox="1"/>
          <p:nvPr/>
        </p:nvSpPr>
        <p:spPr>
          <a:xfrm>
            <a:off x="2209800" y="6972300"/>
            <a:ext cx="147431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SDG: SDG No – SDG Title(Example: SDG 4 – Quality Education)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8"/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706082" y="1952203"/>
            <a:ext cx="992463" cy="992463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48235" y="4447339"/>
            <a:ext cx="508158" cy="543805"/>
            <a:chOff x="0" y="0"/>
            <a:chExt cx="812800" cy="86981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48235" y="3107362"/>
            <a:ext cx="508158" cy="543805"/>
            <a:chOff x="0" y="0"/>
            <a:chExt cx="812800" cy="869819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48235" y="5115753"/>
            <a:ext cx="508158" cy="543805"/>
            <a:chOff x="0" y="0"/>
            <a:chExt cx="812800" cy="86981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48235" y="3776486"/>
            <a:ext cx="508158" cy="543805"/>
            <a:chOff x="0" y="0"/>
            <a:chExt cx="812800" cy="86981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48235" y="6455730"/>
            <a:ext cx="508158" cy="543805"/>
            <a:chOff x="0" y="0"/>
            <a:chExt cx="812800" cy="86981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48235" y="5784877"/>
            <a:ext cx="508158" cy="543805"/>
            <a:chOff x="0" y="0"/>
            <a:chExt cx="812800" cy="869819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48235" y="7123361"/>
            <a:ext cx="508158" cy="543805"/>
            <a:chOff x="0" y="0"/>
            <a:chExt cx="812800" cy="86981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48235" y="7790991"/>
            <a:ext cx="508158" cy="543805"/>
            <a:chOff x="0" y="0"/>
            <a:chExt cx="812800" cy="869819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E796552-E8BF-2718-F921-20F9BAE7EE98}"/>
              </a:ext>
            </a:extLst>
          </p:cNvPr>
          <p:cNvSpPr txBox="1"/>
          <p:nvPr/>
        </p:nvSpPr>
        <p:spPr>
          <a:xfrm>
            <a:off x="152400" y="342900"/>
            <a:ext cx="1813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7E9E58-77B6-079D-9D0D-E380CADAD23D}"/>
              </a:ext>
            </a:extLst>
          </p:cNvPr>
          <p:cNvSpPr txBox="1"/>
          <p:nvPr/>
        </p:nvSpPr>
        <p:spPr>
          <a:xfrm>
            <a:off x="2257440" y="2411600"/>
            <a:ext cx="15082325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E19EFFD-A2C3-B404-3AE7-F5FF8EDAFB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1667152"/>
            <a:ext cx="15600718" cy="69865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Background of the Problem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Event organizers often rely on fragmented tools for promotion, ticketing, payments, and check-ins, leading to inefficiencies and data silos across the event lifecycle.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Why This Project Is Important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 end-to-end platform streamlines planning, sales, and post-event analytics in one integrated system, reducing operational complexity and errors.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Real-World Relevance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From global conferences like TED events to large-scale festivals such as Coachella Valley Music and Arts Festival, organizers need scalable, secure, and user-friendly ticketing solutions.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Brief Overview of the System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platform manages event creation, marketing, ticket sales, secure payments, QR-based check-ins, real-time dashboards, and attendee engagement in a centralized web and mobile interface.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/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11" name="Group 11"/>
          <p:cNvGrpSpPr/>
          <p:nvPr/>
        </p:nvGrpSpPr>
        <p:grpSpPr>
          <a:xfrm>
            <a:off x="709357" y="2648112"/>
            <a:ext cx="992463" cy="992463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1509" y="4428296"/>
            <a:ext cx="508158" cy="543805"/>
            <a:chOff x="0" y="0"/>
            <a:chExt cx="812800" cy="869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1509" y="3762533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A8A7B8E9-D90B-1CF8-14D3-8D2483CAFC58}"/>
              </a:ext>
            </a:extLst>
          </p:cNvPr>
          <p:cNvSpPr txBox="1"/>
          <p:nvPr/>
        </p:nvSpPr>
        <p:spPr>
          <a:xfrm>
            <a:off x="-381000" y="43508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E2941C-1504-53F9-99B2-48002CA9A345}"/>
              </a:ext>
            </a:extLst>
          </p:cNvPr>
          <p:cNvSpPr txBox="1"/>
          <p:nvPr/>
        </p:nvSpPr>
        <p:spPr>
          <a:xfrm>
            <a:off x="2209800" y="1638300"/>
            <a:ext cx="15082325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40EE3B-3C7D-A42E-7B30-DAF5D91C7C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09800" y="2282506"/>
            <a:ext cx="15697200" cy="550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 the current event industry, organizers depend on multiple disconnected platforms for registration, ticketing, payments, and attendee management.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This fragmentation creates data silos, operational delays, and higher chances of errors.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Manual verification and on-site ticket validation often cause long queues and poor attendee experience.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Limited real-time analytics restrict organizers from making informed decisions during events.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Security risks such as ticket duplication and payment fraud further complicate operations.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Small and mid-scale organizers especially struggle with cost-effective, scalable solutions.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There is a need for a unified, automated End-to-End Event Lifecycle &amp; Ticketing Platform.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Such a system would improve efficiency, accuracy, transparency, and overall event management performance.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709357" y="3315742"/>
            <a:ext cx="992463" cy="99246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1509" y="4428296"/>
            <a:ext cx="508158" cy="543805"/>
            <a:chOff x="0" y="0"/>
            <a:chExt cx="812800" cy="8698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51509" y="2648112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5B915D36-EE4F-CB45-6DD3-E1B9C803EB40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OBJECTIVE(S)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Freeform 10">
            <a:extLst>
              <a:ext uri="{FF2B5EF4-FFF2-40B4-BE49-F238E27FC236}">
                <a16:creationId xmlns:a16="http://schemas.microsoft.com/office/drawing/2014/main" id="{CC7EEF9B-9155-23B5-AEE9-85067B6C258B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A0A3A-1541-5EC0-5370-02DA282ABDDE}"/>
              </a:ext>
            </a:extLst>
          </p:cNvPr>
          <p:cNvSpPr txBox="1"/>
          <p:nvPr/>
        </p:nvSpPr>
        <p:spPr>
          <a:xfrm>
            <a:off x="3636502" y="3202386"/>
            <a:ext cx="138684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50F509-D9F5-3B71-FE03-2CC2BA969C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1" y="1380364"/>
            <a:ext cx="13868400" cy="38164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design and develop a secure, scalable End-to-End Event Lifecycle &amp; Ticketing Platform integrating event creation, ticket sales, payments, and attendee management in a single system.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implement real-time analytics and automated QR-based validation to improve operational efficiency and reduce check-in time by at least 40%.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8CE1DB6-8445-D4AF-10CE-E9C9D328990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286001" y="4709914"/>
            <a:ext cx="13868399" cy="23391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evaluate the system’s performance in terms of transaction accuracy, system response time, and user satisfaction, ensuring at least 99% payment reliability and high usability ratings.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3"/>
          <p:cNvGrpSpPr/>
          <p:nvPr/>
        </p:nvGrpSpPr>
        <p:grpSpPr>
          <a:xfrm>
            <a:off x="709357" y="3983373"/>
            <a:ext cx="992463" cy="992463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51509" y="3315742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51509" y="1982349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51509" y="5094059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51509" y="2648112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51509" y="6425585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51509" y="5759822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51509" y="7093216"/>
            <a:ext cx="508158" cy="543805"/>
            <a:chOff x="0" y="0"/>
            <a:chExt cx="812800" cy="86981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51509" y="7760846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5" name="Freeform 10">
            <a:extLst>
              <a:ext uri="{FF2B5EF4-FFF2-40B4-BE49-F238E27FC236}">
                <a16:creationId xmlns:a16="http://schemas.microsoft.com/office/drawing/2014/main" id="{D5D1FD99-C9A7-927E-AD67-E70F11DBAAA2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218D14-8F44-8040-8BFD-49A59591F527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F19716-1653-9AE0-442E-B3829A585B46}"/>
              </a:ext>
            </a:extLst>
          </p:cNvPr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8CDA45-4AE7-C60A-1BF5-C346D95FD526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209800" y="1580148"/>
            <a:ext cx="14859000" cy="70480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system provides a unified web and mobile platform integrating event creation, ticketing, secure payments, marketing, and attendee management.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It eliminates fragmented tools by centralizing all event lifecycle processes into a single database and dashboard.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Automated QR-code generation and real-time validation reduce manual verification and long check-in queues.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Built-in real-time analytics enable organizers to track ticket sales, revenue, and attendance instantly.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Secure payment gateway integration minimizes fraud and ensures reliable transactions.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Cloud-based architecture ensures scalability for small, mid-scale, and large events.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Role-based access control enhances data security and administrative efficiency.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8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Compared to existing systems, it offers end-to-end automation, improved accuracy, reduced operational cost, and better user experience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709357" y="4655766"/>
            <a:ext cx="992463" cy="992463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51509" y="3320505"/>
            <a:ext cx="508158" cy="543805"/>
            <a:chOff x="0" y="0"/>
            <a:chExt cx="812800" cy="86981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51509" y="1987111"/>
            <a:ext cx="508158" cy="543805"/>
            <a:chOff x="0" y="0"/>
            <a:chExt cx="812800" cy="86981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951509" y="3988135"/>
            <a:ext cx="508158" cy="543805"/>
            <a:chOff x="0" y="0"/>
            <a:chExt cx="812800" cy="86981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51509" y="2652874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51509" y="6430348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51509" y="5764584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51509" y="7088453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1509" y="7756083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1762088" y="-9632634"/>
            <a:ext cx="10994424" cy="10994424"/>
            <a:chOff x="0" y="0"/>
            <a:chExt cx="812800" cy="81280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1" name="Freeform 10">
            <a:extLst>
              <a:ext uri="{FF2B5EF4-FFF2-40B4-BE49-F238E27FC236}">
                <a16:creationId xmlns:a16="http://schemas.microsoft.com/office/drawing/2014/main" id="{01BC0C31-7FCD-94EE-8B85-19FBC227565C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B3B85F-0C7B-16B9-6D50-94A4DFD2D192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PROPOSED SYSTEM ARCHITECTURE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5F9D4B0-38FE-DBA4-164D-1745B68379A5}"/>
              </a:ext>
            </a:extLst>
          </p:cNvPr>
          <p:cNvSpPr txBox="1"/>
          <p:nvPr/>
        </p:nvSpPr>
        <p:spPr>
          <a:xfrm flipV="1">
            <a:off x="4660678" y="6901279"/>
            <a:ext cx="12631447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pic>
        <p:nvPicPr>
          <p:cNvPr id="5123" name="Picture 3" descr="DeTi: A Decentralized Ticketing Management Platform | Journal of ...">
            <a:extLst>
              <a:ext uri="{FF2B5EF4-FFF2-40B4-BE49-F238E27FC236}">
                <a16:creationId xmlns:a16="http://schemas.microsoft.com/office/drawing/2014/main" id="{EAD64190-D326-F955-6867-627E3E8A9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77400" y="1987112"/>
            <a:ext cx="7901243" cy="7728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4">
            <a:extLst>
              <a:ext uri="{FF2B5EF4-FFF2-40B4-BE49-F238E27FC236}">
                <a16:creationId xmlns:a16="http://schemas.microsoft.com/office/drawing/2014/main" id="{7FB8FF48-D1DC-69C9-57DA-0B4FA2FF4818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1905000" y="2439773"/>
            <a:ext cx="6857999" cy="60016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Block Diagram (Text Representation)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Input: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 registrations, event details, ticket selections, payment information, and admin configurations.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Processing: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 authentication, ticket generation (QR codes), payment verification, seat allocation, data validation, and real-time analytics computation.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Stores user profiles, event details, ticket records, transaction logs, and attendance data securely.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Output: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E-tickets with QR codes, payment confirmations, sales reports, analytics dashboards, and check-in status updates.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4"/>
          <p:cNvGrpSpPr/>
          <p:nvPr/>
        </p:nvGrpSpPr>
        <p:grpSpPr>
          <a:xfrm>
            <a:off x="735588" y="5318634"/>
            <a:ext cx="992463" cy="992463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77741" y="6425585"/>
            <a:ext cx="508158" cy="543805"/>
            <a:chOff x="0" y="0"/>
            <a:chExt cx="812800" cy="86981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6" name="Freeform 10">
            <a:extLst>
              <a:ext uri="{FF2B5EF4-FFF2-40B4-BE49-F238E27FC236}">
                <a16:creationId xmlns:a16="http://schemas.microsoft.com/office/drawing/2014/main" id="{3663A130-069F-2D83-78E7-4DA0FE7AAC6E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B156733-A733-69AA-7523-59650E125994}"/>
              </a:ext>
            </a:extLst>
          </p:cNvPr>
          <p:cNvSpPr txBox="1"/>
          <p:nvPr/>
        </p:nvSpPr>
        <p:spPr>
          <a:xfrm>
            <a:off x="190500" y="315938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04F3B99-A5D2-54DC-51CD-4E86A99D3EA2}"/>
              </a:ext>
            </a:extLst>
          </p:cNvPr>
          <p:cNvSpPr txBox="1"/>
          <p:nvPr/>
        </p:nvSpPr>
        <p:spPr>
          <a:xfrm>
            <a:off x="2209800" y="1638300"/>
            <a:ext cx="1508232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dirty="0"/>
          </a:p>
          <a:p>
            <a:pPr marL="457200" indent="-457200">
              <a:buFontTx/>
              <a:buChar char="-"/>
            </a:pPr>
            <a:endParaRPr lang="en-US" sz="1400" dirty="0"/>
          </a:p>
          <a:p>
            <a:pPr marL="457200" indent="-457200">
              <a:buFontTx/>
              <a:buChar char="-"/>
            </a:pPr>
            <a:endParaRPr lang="en-US" sz="1400" dirty="0"/>
          </a:p>
          <a:p>
            <a:pPr marL="457200" indent="-457200">
              <a:buFontTx/>
              <a:buChar char="-"/>
            </a:pPr>
            <a:endParaRPr lang="en-US" sz="1400" dirty="0"/>
          </a:p>
          <a:p>
            <a:pPr marL="457200" indent="-457200">
              <a:buFontTx/>
              <a:buChar char="-"/>
            </a:pPr>
            <a:endParaRPr lang="en-US" sz="1400" dirty="0"/>
          </a:p>
          <a:p>
            <a:pPr marL="457200" indent="-457200">
              <a:buFontTx/>
              <a:buChar char="-"/>
            </a:pPr>
            <a:endParaRPr lang="en-US" sz="1400" dirty="0"/>
          </a:p>
          <a:p>
            <a:pPr marL="457200" indent="-457200">
              <a:buFontTx/>
              <a:buChar char="-"/>
            </a:pPr>
            <a:endParaRPr lang="en-US" sz="1400" dirty="0"/>
          </a:p>
          <a:p>
            <a:pPr marL="457200" indent="-457200">
              <a:buFontTx/>
              <a:buChar char="-"/>
            </a:pPr>
            <a:endParaRPr lang="en-US" sz="1400" dirty="0"/>
          </a:p>
          <a:p>
            <a:pPr marL="457200" indent="-457200">
              <a:buFontTx/>
              <a:buChar char="-"/>
            </a:pPr>
            <a:endParaRPr lang="en-IN" sz="1400" dirty="0"/>
          </a:p>
        </p:txBody>
      </p:sp>
      <p:sp>
        <p:nvSpPr>
          <p:cNvPr id="2" name="AutoShape 2" descr="DFD - Level 1 - Create Event &amp; Manage Event [classic] | Creately">
            <a:extLst>
              <a:ext uri="{FF2B5EF4-FFF2-40B4-BE49-F238E27FC236}">
                <a16:creationId xmlns:a16="http://schemas.microsoft.com/office/drawing/2014/main" id="{253E58C6-F638-C20D-28F8-2A09873BFB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257800" y="1257300"/>
            <a:ext cx="4038600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" name="AutoShape 4" descr="DFD - Level 1 - Create Event &amp; Manage Event [classic] | Creately">
            <a:extLst>
              <a:ext uri="{FF2B5EF4-FFF2-40B4-BE49-F238E27FC236}">
                <a16:creationId xmlns:a16="http://schemas.microsoft.com/office/drawing/2014/main" id="{970961C7-B686-E257-14DD-4FF6B1C55C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9AD17C-8B83-FA10-8301-FBC0DF0290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942" y="1459202"/>
            <a:ext cx="11273458" cy="75704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9"/>
          <p:cNvGrpSpPr/>
          <p:nvPr/>
        </p:nvGrpSpPr>
        <p:grpSpPr>
          <a:xfrm>
            <a:off x="735588" y="5976927"/>
            <a:ext cx="992463" cy="992463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977741" y="7093216"/>
            <a:ext cx="508158" cy="543805"/>
            <a:chOff x="0" y="0"/>
            <a:chExt cx="812800" cy="86981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46" name="Freeform 10">
            <a:extLst>
              <a:ext uri="{FF2B5EF4-FFF2-40B4-BE49-F238E27FC236}">
                <a16:creationId xmlns:a16="http://schemas.microsoft.com/office/drawing/2014/main" id="{307389F6-23D0-83F6-DD02-F20D61DADE76}"/>
              </a:ext>
            </a:extLst>
          </p:cNvPr>
          <p:cNvSpPr/>
          <p:nvPr/>
        </p:nvSpPr>
        <p:spPr>
          <a:xfrm>
            <a:off x="16313420" y="910465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ED097B-FECF-66E6-2A98-0F8B4D948FC8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6E9F5F9-CCF8-6F05-4C01-034C88D7529E}"/>
              </a:ext>
            </a:extLst>
          </p:cNvPr>
          <p:cNvSpPr txBox="1"/>
          <p:nvPr/>
        </p:nvSpPr>
        <p:spPr>
          <a:xfrm>
            <a:off x="2209800" y="1638300"/>
            <a:ext cx="15082325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AA468059-A994-34E3-D9DF-B031C04157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7200"/>
            <a:ext cx="18288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3647275-E866-1140-9BE8-4189B694F2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67000" y="1254849"/>
            <a:ext cx="14325600" cy="8402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 – End-to-End Event Lifecycle &amp; Ticketing Platform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🔹 Frontend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React.js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React Native (Mobile App)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HTML5, CSS3, Tailwind CSS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🔹 Backend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Node.js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Express.js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REST APIs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JWT Authentication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🔹 Database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PostgreSQL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Redis (Caching &amp; Seat Locking)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🔹 Payment Integration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Stripe / PayPal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🔹 DevOps &amp; Cloud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Git &amp; GitHub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Docker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AWS / Azure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CI/CD Pipelines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47AFAEC4-CF69-91BD-33C7-CB1A2F3682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30275"/>
            <a:ext cx="18288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/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/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/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A1BCE7C-890E-A01E-691E-1D3D07CF6333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304C197-EAC7-7A26-FAED-ED7302DBEC6E}"/>
              </a:ext>
            </a:extLst>
          </p:cNvPr>
          <p:cNvSpPr txBox="1"/>
          <p:nvPr/>
        </p:nvSpPr>
        <p:spPr>
          <a:xfrm>
            <a:off x="2209800" y="1638300"/>
            <a:ext cx="1508232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  <a:p>
            <a:endParaRPr lang="en-IN" sz="28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D992A5-3216-6040-C350-F3595573CA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7200"/>
            <a:ext cx="18288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FDA0CA-13B8-E528-89D0-500AC81158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1692173"/>
            <a:ext cx="14823478" cy="69865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Project Modules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Module 1: User &amp; Authentication Management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Handles user registration, login, role-based access (Admin, Organizer, Attendee), profile management, and secure authentication using JWT/OAuth.</a:t>
            </a:r>
            <a:endParaRPr kumimoji="0" lang="en-US" altLang="en-US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Module 2: Event Management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Allows organizers to create, update, publish, and manage events including venue details, schedules, ticket types, pricing, and seat allocation.</a:t>
            </a:r>
            <a:endParaRPr kumimoji="0" lang="en-US" altLang="en-US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Module 3: Ticketing &amp; Payment Processing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Manages ticket booking, real-time seat locking, secure payment integration, order confirmation, QR code generation, refunds, and cancellations.</a:t>
            </a:r>
            <a:endParaRPr kumimoji="0" lang="en-US" altLang="en-US" sz="3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Module 4: Analytics &amp; Reporting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Provides sales reports, revenue tracking, attendee insights, event performance metrics, and dashboard analytics for organizers and admins.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6FF469-8206-8B70-5541-00BD0BAC0F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30275"/>
            <a:ext cx="18288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BFBA1B-7EE7-47B6-41F3-C4B61A979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D8CD5C70-566B-9213-9F31-546BB621CCAF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EBAE7EB-82E8-3AF5-3C43-EA7688F7325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5294143A-C171-B89D-02DF-136CB32B43C9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811A371D-2A07-AABC-E66C-143D37E0F12C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2F7BDC7D-6911-7D85-E73A-2061DE32440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6DEA2241-E6A3-8051-F424-21070A5DF29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4DD3D6A9-1C97-9943-C984-B50356BAE3FF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6BB1489C-F4F8-D62E-3AD9-3CAA028A426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A4A64A6E-EA7C-DFF0-C280-5041CD8B135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BE5FF856-5043-C428-B45A-4C00BF9D3418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CFC7AF72-B76A-8AD8-7E70-BDE8837D662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F6C277EF-EDEF-0F79-B4B2-AB1B3E58301A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A32CD2C6-1D06-729E-1157-B2EAAEA172A4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A222D7EA-F7CE-B4F5-4D06-02860C5AC39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17F695A3-7B3D-00FE-26D6-E53B473BCF1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5A8D3527-DD17-232E-3ECB-BDBFC0FF3DE7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1C3EBC87-5F86-657B-5C0D-7DFFB3C4281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5638183B-03CC-91E5-1C67-EAD126FB6DA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8C4C8B82-0B52-9912-DBAF-71546B2F401E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371F41C0-C399-6E94-B393-623F6ED78C3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05375A05-CD15-FECF-CF37-72BD8B495C3C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FFA9D0CA-D989-1DF0-9CD9-7BB1BF37D00D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6D72D40E-C3C8-1774-56F7-396EA1F5463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2A94558C-EEEF-6159-C648-7ED1F2545B1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A8A0868D-7450-B2DC-5A6A-A607E39122E3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227C0AD0-E7DC-50B1-90B8-A6B2DA72DDA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9B60539C-7696-ACA6-9070-BC481578187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90A2A8C1-A254-99B6-B7B0-C5A8A5BB008F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B814A5FC-F17C-8D1A-04C8-1ED6A2AE0E65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2EC11913-1FC3-79C0-FB94-72486D9673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6CB89B22-25E1-321C-5A74-15CF8EBC7CA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35C6402D-9C63-51C1-99A9-4206C0537740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C6A4DA-6D4B-3E6A-CF92-E543DD7AFBF5}"/>
              </a:ext>
            </a:extLst>
          </p:cNvPr>
          <p:cNvSpPr txBox="1"/>
          <p:nvPr/>
        </p:nvSpPr>
        <p:spPr>
          <a:xfrm>
            <a:off x="2209800" y="1638300"/>
            <a:ext cx="15082325" cy="8279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/>
              <a:t>(Add screenshots of: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Home page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Login page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Main module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Output page)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r>
              <a:rPr lang="en-US" sz="2800" dirty="0"/>
              <a:t>Explain each in 1–2 lines.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9981011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CF319D-58F2-DF9E-632A-90472F50F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ADE101F0-A2BF-16E8-7BEC-541911EA9510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43B1E5B-104E-DCD5-F042-8DABFE8225A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846A8601-B4CB-7C78-2833-947EEC356CD7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8(A)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1C63788E-DB35-987D-1A89-4C3F169DF70E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676646B6-C6D6-F677-3CA9-56BE5CE444A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3CDDAA79-D530-F622-0CC8-ECE3E95F952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8227745F-FD1B-7135-E88E-D6B924C5CB24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79292FA3-A80E-1540-0024-754AADCDB01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5A8C7117-591A-F089-5F54-0229077FDEA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29278237-7990-A997-2285-EB2F5BB4EF44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F37C1434-DB0E-53EF-4140-56A0F3CD6EAB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4FC388C1-59EC-CA17-BA41-9AF3AAD42D8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90F65A21-E49B-9858-6EAD-EBC3142E6239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EFDE14F0-9F59-E35F-B5B7-45C77C56354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E1181869-B448-2B7A-67F5-160B09C76D9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8B27AB66-420C-E7D0-5891-910B564CA2C2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F0605CE2-624E-D2DA-6357-65C5FA138C6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DA9B1286-A8A4-091B-5AF9-F0B275F703E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127DF020-AEA7-8D57-9411-90D58D65D05B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00BA2729-D580-CF8D-87CD-EE786F2E40E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F0B6F8BA-7047-AE2A-DB03-E6846F9FAEAB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B5DE7324-71F9-1D79-AB1E-F97481653389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E780ED4E-44DF-E344-CCEA-834D1374F6A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AC7D9CD8-E54E-AD67-D59B-5D4A37A1B41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3560347-DE50-10F7-9905-7228E593D280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1B9E463A-B010-8D72-6350-7242CB0AAF56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C15BE220-858E-1446-5B56-D3329A06A997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98F156A3-70B1-1344-389E-4B3C64CA921F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A36A5C58-00A3-2FE9-36E4-D92AAF44A0F5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BADF0EED-F663-F70E-9BB3-C0F576114D0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54542349-F329-7DA6-DBD4-7EFA939B9892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B6CAD810-8433-9B89-E144-29986E25063F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F2C30-13B1-3754-C147-D58A899BC459}"/>
              </a:ext>
            </a:extLst>
          </p:cNvPr>
          <p:cNvSpPr txBox="1"/>
          <p:nvPr/>
        </p:nvSpPr>
        <p:spPr>
          <a:xfrm>
            <a:off x="2209800" y="1638300"/>
            <a:ext cx="15082325" cy="8279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800" dirty="0"/>
              <a:t>(Add screenshots of: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Home page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Login page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Main module</a:t>
            </a:r>
          </a:p>
          <a:p>
            <a:pPr marL="457200" indent="-457200">
              <a:buFontTx/>
              <a:buChar char="-"/>
            </a:pPr>
            <a:r>
              <a:rPr lang="en-US" sz="2800" dirty="0"/>
              <a:t>Output page)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r>
              <a:rPr lang="en-US" sz="2800" dirty="0"/>
              <a:t>Explain each in 1–2 lines.</a:t>
            </a:r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3981187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F4F051-5473-4E78-FEB2-59A87A5FB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66BE183E-F015-FFD4-5C84-C25B4DCE490A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3AEC1772-D597-ACC7-7EF1-FF0460F37AA7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46839344-8B05-5C56-F0B1-64E24F458991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8(B)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23B54700-9ABF-8EDD-8B21-24A9248C534D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99246F8-F6B5-2F2E-2FB4-FAE1DD41DCC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B7CDDD7B-8A9B-223F-951A-473D0C9404F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B3E1A8FC-D0F1-BD05-9C14-C10EAE95E57E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CEB5FB4E-3BF3-BC6A-6692-FE375141E45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38F8F103-F0A5-8F95-A139-8DBEBEF19C2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8C558648-2D59-16EB-3098-EAF5DE978B1F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B168779D-5467-4E78-AD1E-36B5A75A3474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8AFC0BB4-20A4-849D-A1E4-FA90A8DDCC7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700D33AC-D53D-0E96-8752-E5DA06AE57A5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14DABAFB-38B3-CE49-B21D-A496D7EC2A6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BE27A610-3BC0-BFBC-2A61-4C157B024EF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6C0E28B4-531C-D2E1-F3C9-B5A98A28B69D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6C193347-3923-7F1F-A580-A7462B158EC5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C5DDC20D-7BD0-E255-26F1-86A88AF67CF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9DBB21A1-CAFF-686E-D181-980219283F79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5531A9C5-B561-53EA-BF9A-3BE6A607C1B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D8870C21-3327-4D63-FD34-36BC4799675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4D7C3EBE-FA20-7E4C-13DD-84F1A98618F6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C1E3AE62-1B2B-FE1E-010C-A26C4F613A6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CDA04BD5-C99C-980C-6593-EDEA378D6C3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E77207A6-9552-432B-0793-EB6A88EE3C10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27447A1E-BA0C-26C0-C743-E590A55A653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8D425BCC-6A0F-30CB-18E7-D1E21E871D9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35F87FC1-4854-F9D4-8104-40945AD6A772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C7CF20EF-980A-2D88-E968-DCB5B8BC6CF8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A7A686B7-4E4C-A5FA-60CD-A6EFF9DEAD8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3ECD8D52-6368-578C-BEB2-0B1BA37FD45D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638323CF-7DCB-075F-B739-0F88472F060D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C0EA81E-D408-1A06-6895-1BF3CA09E497}"/>
              </a:ext>
            </a:extLst>
          </p:cNvPr>
          <p:cNvSpPr txBox="1"/>
          <p:nvPr/>
        </p:nvSpPr>
        <p:spPr>
          <a:xfrm>
            <a:off x="2209800" y="1638300"/>
            <a:ext cx="1508232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75448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52AA6E-1A8C-A42D-344E-C811AB58A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7">
            <a:extLst>
              <a:ext uri="{FF2B5EF4-FFF2-40B4-BE49-F238E27FC236}">
                <a16:creationId xmlns:a16="http://schemas.microsoft.com/office/drawing/2014/main" id="{EB7F1E1F-336A-607D-2868-6C57FF54EB44}"/>
              </a:ext>
            </a:extLst>
          </p:cNvPr>
          <p:cNvGrpSpPr/>
          <p:nvPr/>
        </p:nvGrpSpPr>
        <p:grpSpPr>
          <a:xfrm>
            <a:off x="735588" y="6653894"/>
            <a:ext cx="992463" cy="992463"/>
            <a:chOff x="0" y="0"/>
            <a:chExt cx="812800" cy="812800"/>
          </a:xfrm>
        </p:grpSpPr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63528BA9-EE0E-A6F8-4A8C-6DFC964B206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9" name="TextBox 9">
              <a:extLst>
                <a:ext uri="{FF2B5EF4-FFF2-40B4-BE49-F238E27FC236}">
                  <a16:creationId xmlns:a16="http://schemas.microsoft.com/office/drawing/2014/main" id="{6E25C449-B344-E643-12F7-C89DEE4255EA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400" b="1" dirty="0">
                  <a:solidFill>
                    <a:srgbClr val="002060"/>
                  </a:solidFill>
                  <a:latin typeface="Gotham"/>
                  <a:ea typeface="Gotham"/>
                  <a:cs typeface="Gotham"/>
                  <a:sym typeface="Gotham"/>
                </a:rPr>
                <a:t>8(C)</a:t>
              </a:r>
            </a:p>
          </p:txBody>
        </p:sp>
      </p:grpSp>
      <p:grpSp>
        <p:nvGrpSpPr>
          <p:cNvPr id="10" name="Group 10">
            <a:extLst>
              <a:ext uri="{FF2B5EF4-FFF2-40B4-BE49-F238E27FC236}">
                <a16:creationId xmlns:a16="http://schemas.microsoft.com/office/drawing/2014/main" id="{4C22D2BC-F5CA-423B-6FD6-94172693045D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F6670B32-1168-757A-3D40-FDD55687DCFD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0D3BB7FD-57C6-C09A-D875-135D505A8E1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3" name="Group 13">
            <a:extLst>
              <a:ext uri="{FF2B5EF4-FFF2-40B4-BE49-F238E27FC236}">
                <a16:creationId xmlns:a16="http://schemas.microsoft.com/office/drawing/2014/main" id="{067A86AC-A2D1-3F33-5857-9F69983F71BB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4" name="Freeform 14">
              <a:extLst>
                <a:ext uri="{FF2B5EF4-FFF2-40B4-BE49-F238E27FC236}">
                  <a16:creationId xmlns:a16="http://schemas.microsoft.com/office/drawing/2014/main" id="{D9EADC3C-D136-0700-9300-4D8E867EC53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5" name="TextBox 15">
              <a:extLst>
                <a:ext uri="{FF2B5EF4-FFF2-40B4-BE49-F238E27FC236}">
                  <a16:creationId xmlns:a16="http://schemas.microsoft.com/office/drawing/2014/main" id="{A8EAD5F3-3FC4-819A-6ECD-0BC55C92A2B3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1671F77B-B3A5-F8B6-AC67-6EF88CA95877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1303025A-EF3E-710E-2DBD-D89F29B8499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76E7D281-CC96-92C2-C2F7-583674F0609D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9" name="Group 19">
            <a:extLst>
              <a:ext uri="{FF2B5EF4-FFF2-40B4-BE49-F238E27FC236}">
                <a16:creationId xmlns:a16="http://schemas.microsoft.com/office/drawing/2014/main" id="{E0D02FED-C5F4-9CC7-F1F5-E75E542840A9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384D1E33-434F-2FA0-56CC-F24058D8639C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1" name="TextBox 21">
              <a:extLst>
                <a:ext uri="{FF2B5EF4-FFF2-40B4-BE49-F238E27FC236}">
                  <a16:creationId xmlns:a16="http://schemas.microsoft.com/office/drawing/2014/main" id="{F2FC0DCA-FB2A-610C-A8DB-76CE251A57D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4CA1DB61-05A2-042F-9815-00DBC40D0556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67E4E958-360B-28EF-052B-EDDBDD5F40F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4" name="TextBox 24">
              <a:extLst>
                <a:ext uri="{FF2B5EF4-FFF2-40B4-BE49-F238E27FC236}">
                  <a16:creationId xmlns:a16="http://schemas.microsoft.com/office/drawing/2014/main" id="{BEDBF5CC-2720-E821-001C-11BCB7273E26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6B96629A-6996-B0D7-13D6-0FA011422666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912F1ED8-E3AD-E90A-10CE-D50A8F7D91A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00E45F23-6E8F-F601-2EB3-537A898E7044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8" name="Group 28">
            <a:extLst>
              <a:ext uri="{FF2B5EF4-FFF2-40B4-BE49-F238E27FC236}">
                <a16:creationId xmlns:a16="http://schemas.microsoft.com/office/drawing/2014/main" id="{A40D6715-3580-0B1B-2305-C7ED6083AE85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11A59530-4B7F-6C6B-290E-578EA30200D0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9BDCE736-251A-5B70-853E-A0A9A174F361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31" name="Group 31">
            <a:extLst>
              <a:ext uri="{FF2B5EF4-FFF2-40B4-BE49-F238E27FC236}">
                <a16:creationId xmlns:a16="http://schemas.microsoft.com/office/drawing/2014/main" id="{8249BDCF-E07B-269B-D039-A4360C0FE2B4}"/>
              </a:ext>
            </a:extLst>
          </p:cNvPr>
          <p:cNvGrpSpPr/>
          <p:nvPr/>
        </p:nvGrpSpPr>
        <p:grpSpPr>
          <a:xfrm>
            <a:off x="977741" y="7760846"/>
            <a:ext cx="508158" cy="543805"/>
            <a:chOff x="0" y="0"/>
            <a:chExt cx="812800" cy="869819"/>
          </a:xfrm>
        </p:grpSpPr>
        <p:sp>
          <p:nvSpPr>
            <p:cNvPr id="32" name="Freeform 32">
              <a:extLst>
                <a:ext uri="{FF2B5EF4-FFF2-40B4-BE49-F238E27FC236}">
                  <a16:creationId xmlns:a16="http://schemas.microsoft.com/office/drawing/2014/main" id="{6F6B04FD-3FAC-90A2-4C1A-D809D058C0A9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3" name="TextBox 33">
              <a:extLst>
                <a:ext uri="{FF2B5EF4-FFF2-40B4-BE49-F238E27FC236}">
                  <a16:creationId xmlns:a16="http://schemas.microsoft.com/office/drawing/2014/main" id="{BEE5C092-697C-26F6-D6E0-477F151E7CAE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FF80FEAE-01A3-1956-FB30-BED14CA86273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5" name="Group 35">
            <a:extLst>
              <a:ext uri="{FF2B5EF4-FFF2-40B4-BE49-F238E27FC236}">
                <a16:creationId xmlns:a16="http://schemas.microsoft.com/office/drawing/2014/main" id="{2E8D2AB5-8B00-D9B4-469D-07CAE4ECF9C8}"/>
              </a:ext>
            </a:extLst>
          </p:cNvPr>
          <p:cNvGrpSpPr/>
          <p:nvPr/>
        </p:nvGrpSpPr>
        <p:grpSpPr>
          <a:xfrm>
            <a:off x="17170670" y="-178579"/>
            <a:ext cx="10994424" cy="10994424"/>
            <a:chOff x="0" y="0"/>
            <a:chExt cx="812800" cy="812800"/>
          </a:xfrm>
        </p:grpSpPr>
        <p:sp>
          <p:nvSpPr>
            <p:cNvPr id="36" name="Freeform 36">
              <a:extLst>
                <a:ext uri="{FF2B5EF4-FFF2-40B4-BE49-F238E27FC236}">
                  <a16:creationId xmlns:a16="http://schemas.microsoft.com/office/drawing/2014/main" id="{F9F17E25-114F-438B-701A-7788D333F33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514350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37" name="TextBox 37">
              <a:extLst>
                <a:ext uri="{FF2B5EF4-FFF2-40B4-BE49-F238E27FC236}">
                  <a16:creationId xmlns:a16="http://schemas.microsoft.com/office/drawing/2014/main" id="{1C4B6667-B2EE-BA32-402F-04368D88D5C4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9B953180-DB27-F046-86E3-E3508247B406}"/>
              </a:ext>
            </a:extLst>
          </p:cNvPr>
          <p:cNvSpPr txBox="1"/>
          <p:nvPr/>
        </p:nvSpPr>
        <p:spPr>
          <a:xfrm>
            <a:off x="152400" y="342900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SCREENSHOTS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41A1FDE-E3AB-682A-64B7-DA145F23EB91}"/>
              </a:ext>
            </a:extLst>
          </p:cNvPr>
          <p:cNvSpPr txBox="1"/>
          <p:nvPr/>
        </p:nvSpPr>
        <p:spPr>
          <a:xfrm>
            <a:off x="2209800" y="1638300"/>
            <a:ext cx="1508232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US" sz="2800" dirty="0"/>
          </a:p>
          <a:p>
            <a:pPr marL="457200" indent="-457200">
              <a:buFontTx/>
              <a:buChar char="-"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84889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EBAB55-7601-3C41-6F10-EE0F67F77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B9E2C662-B058-485B-BFC3-199F93F6D154}"/>
              </a:ext>
            </a:extLst>
          </p:cNvPr>
          <p:cNvGrpSpPr/>
          <p:nvPr/>
        </p:nvGrpSpPr>
        <p:grpSpPr>
          <a:xfrm>
            <a:off x="735588" y="7321525"/>
            <a:ext cx="992463" cy="992463"/>
            <a:chOff x="0" y="0"/>
            <a:chExt cx="812800" cy="81280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25CA7A-BCD4-5B7F-7069-AE7F5BD10A9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D6220"/>
            </a:solidFill>
          </p:spPr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07E08158-57E2-530C-A7FD-5AF72088CFEA}"/>
                </a:ext>
              </a:extLst>
            </p:cNvPr>
            <p:cNvSpPr txBox="1"/>
            <p:nvPr/>
          </p:nvSpPr>
          <p:spPr>
            <a:xfrm>
              <a:off x="76200" y="19050"/>
              <a:ext cx="660400" cy="717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779"/>
                </a:lnSpc>
                <a:spcBef>
                  <a:spcPct val="0"/>
                </a:spcBef>
              </a:pPr>
              <a:r>
                <a:rPr lang="en-US" sz="2699">
                  <a:solidFill>
                    <a:srgbClr val="FFFEFE"/>
                  </a:solidFill>
                  <a:latin typeface="Gotham"/>
                  <a:ea typeface="Gotham"/>
                  <a:cs typeface="Gotham"/>
                  <a:sym typeface="Gotham"/>
                </a:rPr>
                <a:t>9</a:t>
              </a: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CB09EB64-B1EE-DA7A-E7DC-97163FE53167}"/>
              </a:ext>
            </a:extLst>
          </p:cNvPr>
          <p:cNvGrpSpPr/>
          <p:nvPr/>
        </p:nvGrpSpPr>
        <p:grpSpPr>
          <a:xfrm>
            <a:off x="977741" y="3315742"/>
            <a:ext cx="508158" cy="543805"/>
            <a:chOff x="0" y="0"/>
            <a:chExt cx="812800" cy="86981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4B04A57D-53E9-134E-70C7-51485932A21F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AC0A25AD-0459-BAEA-2E7B-0D9279AE1BC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3</a:t>
              </a:r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E0EBC171-BEE8-2D5E-8755-EE50B2570259}"/>
              </a:ext>
            </a:extLst>
          </p:cNvPr>
          <p:cNvGrpSpPr/>
          <p:nvPr/>
        </p:nvGrpSpPr>
        <p:grpSpPr>
          <a:xfrm>
            <a:off x="977741" y="1982349"/>
            <a:ext cx="508158" cy="543805"/>
            <a:chOff x="0" y="0"/>
            <a:chExt cx="812800" cy="869819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E4000A93-AB8F-B573-E218-7434988FD581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1228826C-BC2E-0DA0-107F-341F9D1A494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1</a:t>
              </a: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7FD594E4-E181-FD3B-1C72-DE2D718C274A}"/>
              </a:ext>
            </a:extLst>
          </p:cNvPr>
          <p:cNvGrpSpPr/>
          <p:nvPr/>
        </p:nvGrpSpPr>
        <p:grpSpPr>
          <a:xfrm>
            <a:off x="977741" y="3983373"/>
            <a:ext cx="508158" cy="543805"/>
            <a:chOff x="0" y="0"/>
            <a:chExt cx="812800" cy="86981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C16DA90C-521A-EFE9-8EE9-CB3967A50953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5A678428-7466-DB88-0126-41232DE4A0D2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4</a:t>
              </a:r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91D279A8-BDAA-B12E-DD4B-9978E9D5005C}"/>
              </a:ext>
            </a:extLst>
          </p:cNvPr>
          <p:cNvGrpSpPr/>
          <p:nvPr/>
        </p:nvGrpSpPr>
        <p:grpSpPr>
          <a:xfrm>
            <a:off x="977741" y="2648112"/>
            <a:ext cx="508158" cy="543805"/>
            <a:chOff x="0" y="0"/>
            <a:chExt cx="812800" cy="869819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308F1BB3-7F58-DE0C-71F1-9782E0906192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5F43F9B-B904-0414-7AA7-1E7959C4C9E9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2</a:t>
              </a:r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311E9EBB-A9CE-A64F-FF44-F82C0D52AC32}"/>
              </a:ext>
            </a:extLst>
          </p:cNvPr>
          <p:cNvGrpSpPr/>
          <p:nvPr/>
        </p:nvGrpSpPr>
        <p:grpSpPr>
          <a:xfrm>
            <a:off x="977741" y="5318634"/>
            <a:ext cx="508158" cy="543805"/>
            <a:chOff x="0" y="0"/>
            <a:chExt cx="812800" cy="8698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DED3A9EA-E50F-553B-EDAA-87F95FD22807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7E9C7CEA-D993-4107-0776-54AC90E20625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6</a:t>
              </a:r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7B397A27-1CC9-9661-DA24-10B3E1042399}"/>
              </a:ext>
            </a:extLst>
          </p:cNvPr>
          <p:cNvGrpSpPr/>
          <p:nvPr/>
        </p:nvGrpSpPr>
        <p:grpSpPr>
          <a:xfrm>
            <a:off x="977741" y="4651003"/>
            <a:ext cx="508158" cy="543805"/>
            <a:chOff x="0" y="0"/>
            <a:chExt cx="812800" cy="869819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2A8CD899-9C63-11A3-805F-4CA0E12C7CB8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1976C224-9A36-532E-5E8B-B738C9FBC3FF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5</a:t>
              </a:r>
            </a:p>
          </p:txBody>
        </p:sp>
      </p:grpSp>
      <p:grpSp>
        <p:nvGrpSpPr>
          <p:cNvPr id="26" name="Group 26">
            <a:extLst>
              <a:ext uri="{FF2B5EF4-FFF2-40B4-BE49-F238E27FC236}">
                <a16:creationId xmlns:a16="http://schemas.microsoft.com/office/drawing/2014/main" id="{E8CFE39F-6666-6E69-8980-5B55F6D56478}"/>
              </a:ext>
            </a:extLst>
          </p:cNvPr>
          <p:cNvGrpSpPr/>
          <p:nvPr/>
        </p:nvGrpSpPr>
        <p:grpSpPr>
          <a:xfrm>
            <a:off x="977741" y="5986264"/>
            <a:ext cx="508158" cy="543805"/>
            <a:chOff x="0" y="0"/>
            <a:chExt cx="812800" cy="869819"/>
          </a:xfrm>
        </p:grpSpPr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F859737D-AFDF-BDFC-6651-3B954F2DD46E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28" name="TextBox 28">
              <a:extLst>
                <a:ext uri="{FF2B5EF4-FFF2-40B4-BE49-F238E27FC236}">
                  <a16:creationId xmlns:a16="http://schemas.microsoft.com/office/drawing/2014/main" id="{B7B59B44-AD68-1549-9F86-A09D82459B58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7</a:t>
              </a:r>
            </a:p>
          </p:txBody>
        </p:sp>
      </p:grpSp>
      <p:grpSp>
        <p:nvGrpSpPr>
          <p:cNvPr id="29" name="Group 29">
            <a:extLst>
              <a:ext uri="{FF2B5EF4-FFF2-40B4-BE49-F238E27FC236}">
                <a16:creationId xmlns:a16="http://schemas.microsoft.com/office/drawing/2014/main" id="{3FACABC2-D51C-1EF5-0D1B-34B410283F2E}"/>
              </a:ext>
            </a:extLst>
          </p:cNvPr>
          <p:cNvGrpSpPr/>
          <p:nvPr/>
        </p:nvGrpSpPr>
        <p:grpSpPr>
          <a:xfrm>
            <a:off x="977741" y="6653894"/>
            <a:ext cx="508158" cy="543805"/>
            <a:chOff x="0" y="0"/>
            <a:chExt cx="812800" cy="869819"/>
          </a:xfrm>
        </p:grpSpPr>
        <p:sp>
          <p:nvSpPr>
            <p:cNvPr id="30" name="Freeform 30">
              <a:extLst>
                <a:ext uri="{FF2B5EF4-FFF2-40B4-BE49-F238E27FC236}">
                  <a16:creationId xmlns:a16="http://schemas.microsoft.com/office/drawing/2014/main" id="{6DD43112-BD1E-86D9-D9C6-3C97559FC56A}"/>
                </a:ext>
              </a:extLst>
            </p:cNvPr>
            <p:cNvSpPr/>
            <p:nvPr/>
          </p:nvSpPr>
          <p:spPr>
            <a:xfrm>
              <a:off x="0" y="0"/>
              <a:ext cx="812800" cy="869819"/>
            </a:xfrm>
            <a:custGeom>
              <a:avLst/>
              <a:gdLst/>
              <a:ahLst/>
              <a:cxnLst/>
              <a:rect l="l" t="t" r="r" b="b"/>
              <a:pathLst>
                <a:path w="812800" h="869819">
                  <a:moveTo>
                    <a:pt x="406400" y="0"/>
                  </a:moveTo>
                  <a:cubicBezTo>
                    <a:pt x="181951" y="0"/>
                    <a:pt x="0" y="194716"/>
                    <a:pt x="0" y="434909"/>
                  </a:cubicBezTo>
                  <a:cubicBezTo>
                    <a:pt x="0" y="675103"/>
                    <a:pt x="181951" y="869819"/>
                    <a:pt x="406400" y="869819"/>
                  </a:cubicBezTo>
                  <a:cubicBezTo>
                    <a:pt x="630849" y="869819"/>
                    <a:pt x="812800" y="675103"/>
                    <a:pt x="812800" y="434909"/>
                  </a:cubicBezTo>
                  <a:cubicBezTo>
                    <a:pt x="812800" y="194716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EFE"/>
            </a:solidFill>
            <a:ln w="9525" cap="sq">
              <a:solidFill>
                <a:srgbClr val="FD6220"/>
              </a:solidFill>
              <a:prstDash val="solid"/>
              <a:miter/>
            </a:ln>
          </p:spPr>
        </p:sp>
        <p:sp>
          <p:nvSpPr>
            <p:cNvPr id="31" name="TextBox 31">
              <a:extLst>
                <a:ext uri="{FF2B5EF4-FFF2-40B4-BE49-F238E27FC236}">
                  <a16:creationId xmlns:a16="http://schemas.microsoft.com/office/drawing/2014/main" id="{C34845E4-4A4B-0A81-5A55-140048165790}"/>
                </a:ext>
              </a:extLst>
            </p:cNvPr>
            <p:cNvSpPr txBox="1"/>
            <p:nvPr/>
          </p:nvSpPr>
          <p:spPr>
            <a:xfrm>
              <a:off x="76200" y="52970"/>
              <a:ext cx="660400" cy="7353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80"/>
                </a:lnSpc>
                <a:spcBef>
                  <a:spcPct val="0"/>
                </a:spcBef>
              </a:pPr>
              <a:r>
                <a:rPr lang="en-US" sz="1700">
                  <a:solidFill>
                    <a:srgbClr val="191919"/>
                  </a:solidFill>
                  <a:latin typeface="Gotham"/>
                  <a:ea typeface="Gotham"/>
                  <a:cs typeface="Gotham"/>
                  <a:sym typeface="Gotham"/>
                </a:rPr>
                <a:t>8</a:t>
              </a:r>
            </a:p>
          </p:txBody>
        </p:sp>
      </p:grpSp>
      <p:sp>
        <p:nvSpPr>
          <p:cNvPr id="32" name="Freeform 32">
            <a:extLst>
              <a:ext uri="{FF2B5EF4-FFF2-40B4-BE49-F238E27FC236}">
                <a16:creationId xmlns:a16="http://schemas.microsoft.com/office/drawing/2014/main" id="{05CB8E9D-B497-44FF-DB18-7D166BD2DA61}"/>
              </a:ext>
            </a:extLst>
          </p:cNvPr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4" name="Group 44">
            <a:extLst>
              <a:ext uri="{FF2B5EF4-FFF2-40B4-BE49-F238E27FC236}">
                <a16:creationId xmlns:a16="http://schemas.microsoft.com/office/drawing/2014/main" id="{FBD0A79F-CA0B-2560-37ED-E07624B11027}"/>
              </a:ext>
            </a:extLst>
          </p:cNvPr>
          <p:cNvGrpSpPr/>
          <p:nvPr/>
        </p:nvGrpSpPr>
        <p:grpSpPr>
          <a:xfrm>
            <a:off x="16786360" y="-353712"/>
            <a:ext cx="10994424" cy="10994424"/>
            <a:chOff x="0" y="0"/>
            <a:chExt cx="812800" cy="812800"/>
          </a:xfrm>
        </p:grpSpPr>
        <p:sp>
          <p:nvSpPr>
            <p:cNvPr id="45" name="Freeform 45">
              <a:extLst>
                <a:ext uri="{FF2B5EF4-FFF2-40B4-BE49-F238E27FC236}">
                  <a16:creationId xmlns:a16="http://schemas.microsoft.com/office/drawing/2014/main" id="{25583CD3-FA12-1B53-043B-9FE4E18BA02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19125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46" name="TextBox 46">
              <a:extLst>
                <a:ext uri="{FF2B5EF4-FFF2-40B4-BE49-F238E27FC236}">
                  <a16:creationId xmlns:a16="http://schemas.microsoft.com/office/drawing/2014/main" id="{FA405478-0BA8-4A85-A81A-B9346174FE61}"/>
                </a:ext>
              </a:extLst>
            </p:cNvPr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C926643-39EA-932E-6755-230476B3078D}"/>
              </a:ext>
            </a:extLst>
          </p:cNvPr>
          <p:cNvSpPr txBox="1"/>
          <p:nvPr/>
        </p:nvSpPr>
        <p:spPr>
          <a:xfrm>
            <a:off x="190500" y="290493"/>
            <a:ext cx="17907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>
                <a:solidFill>
                  <a:srgbClr val="0033C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ADVANTAGES &amp; LIMITATIONS</a:t>
            </a:r>
            <a:endParaRPr lang="en-IN" sz="4800" b="1" dirty="0">
              <a:solidFill>
                <a:srgbClr val="0033C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A9ABCF-EC76-8A3E-DE56-C8F27DE745A6}"/>
              </a:ext>
            </a:extLst>
          </p:cNvPr>
          <p:cNvSpPr txBox="1"/>
          <p:nvPr/>
        </p:nvSpPr>
        <p:spPr>
          <a:xfrm>
            <a:off x="1821094" y="1349675"/>
            <a:ext cx="19109835" cy="7417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Advantages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🎟️ End-to-End Event Management (creation to check-in)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💳 Secure Online Payments &amp; Automated Ticketing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⚡ Real-Time Seat Booking &amp; Availability Tracking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Analytics &amp; Sales Insights for Organizers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🌍 Accessible Anywhere (Web &amp; Mobile Support)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🔐 Role-Based Access &amp; Secure Authentication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📈 Scalable for Small to Large Events</a:t>
            </a:r>
          </a:p>
          <a:p>
            <a:pPr>
              <a:buNone/>
            </a:pPr>
            <a:b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🌐 Requires Stable Internet Connectivity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💰 Payment Gateway Transaction Charges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🔄 High Server Load During Peak Bookings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🔒 Cybersecurity Risks if Not Properly Secured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🛠️ Maintenance &amp; Cloud Hosting Costs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📉 Dependency on Third-Party Services (Payments, Cloud</a:t>
            </a:r>
          </a:p>
        </p:txBody>
      </p:sp>
    </p:spTree>
    <p:extLst>
      <p:ext uri="{BB962C8B-B14F-4D97-AF65-F5344CB8AC3E}">
        <p14:creationId xmlns:p14="http://schemas.microsoft.com/office/powerpoint/2010/main" val="1838976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Freeform 32"/>
          <p:cNvSpPr/>
          <p:nvPr/>
        </p:nvSpPr>
        <p:spPr>
          <a:xfrm>
            <a:off x="16313420" y="1028700"/>
            <a:ext cx="945880" cy="236470"/>
          </a:xfrm>
          <a:custGeom>
            <a:avLst/>
            <a:gdLst/>
            <a:ahLst/>
            <a:cxnLst/>
            <a:rect l="l" t="t" r="r" b="b"/>
            <a:pathLst>
              <a:path w="945880" h="236470">
                <a:moveTo>
                  <a:pt x="0" y="0"/>
                </a:moveTo>
                <a:lnTo>
                  <a:pt x="945880" y="0"/>
                </a:lnTo>
                <a:lnTo>
                  <a:pt x="945880" y="236470"/>
                </a:lnTo>
                <a:lnTo>
                  <a:pt x="0" y="2364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3" name="TextBox 43"/>
          <p:cNvSpPr txBox="1"/>
          <p:nvPr/>
        </p:nvSpPr>
        <p:spPr>
          <a:xfrm>
            <a:off x="3200400" y="4486172"/>
            <a:ext cx="11159653" cy="131465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149"/>
              </a:lnSpc>
            </a:pPr>
            <a:r>
              <a:rPr lang="en-US" sz="11153" b="1" i="1" dirty="0">
                <a:solidFill>
                  <a:srgbClr val="191919"/>
                </a:solidFill>
                <a:latin typeface="Gotham Bold Italics"/>
                <a:ea typeface="Gotham Bold Italics"/>
                <a:cs typeface="Gotham Bold Italics"/>
                <a:sym typeface="Gotham Bold Italics"/>
              </a:rPr>
              <a:t>Thank you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6786360" y="-353712"/>
            <a:ext cx="10994424" cy="10994424"/>
            <a:chOff x="0" y="0"/>
            <a:chExt cx="812800" cy="812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619125" cap="sq">
              <a:solidFill>
                <a:srgbClr val="FD6220">
                  <a:alpha val="11765"/>
                </a:srgbClr>
              </a:solidFill>
              <a:prstDash val="solid"/>
              <a:miter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1141</Words>
  <Application>Microsoft Office PowerPoint</Application>
  <PresentationFormat>Custom</PresentationFormat>
  <Paragraphs>349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Bookman Old Style</vt:lpstr>
      <vt:lpstr>Arial</vt:lpstr>
      <vt:lpstr>Calibri</vt:lpstr>
      <vt:lpstr>Times New Roman</vt:lpstr>
      <vt:lpstr>Cambria</vt:lpstr>
      <vt:lpstr>Arial Black</vt:lpstr>
      <vt:lpstr>Gotham Bold Italics</vt:lpstr>
      <vt:lpstr>Gotham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White and Orange Simple Portfolio Presentation</dc:title>
  <dc:creator>S Swamy Reddy</dc:creator>
  <cp:lastModifiedBy>saisai46329@outlook.com</cp:lastModifiedBy>
  <cp:revision>12</cp:revision>
  <dcterms:created xsi:type="dcterms:W3CDTF">2006-08-16T00:00:00Z</dcterms:created>
  <dcterms:modified xsi:type="dcterms:W3CDTF">2026-03-04T04:58:07Z</dcterms:modified>
  <dc:identifier>DAHCaYqJ9OU</dc:identifier>
</cp:coreProperties>
</file>